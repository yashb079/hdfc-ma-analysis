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– HDFC LTD MERGER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Deal Analysis — Deal Rationale, Synergies &amp; EPS Impact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45720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 Billion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Value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1460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1228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42:25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1228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Ratio (HDFCB:HDFCL)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Bagul</a:t>
            </a:r>
            <a:pPr indent="0" marL="0">
              <a:buNone/>
            </a:pPr>
            <a:r>
              <a:rPr lang="en-US" sz="11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MBA Finance (In Progress)   |   Self-Initiated Research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OVERVIEW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(Acquirer)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private sector bank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55648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755648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1,94,696 Cr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(FY23)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231136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44,109 Cr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06624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(FY23)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79.4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~556 Cr shares outstanding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57600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retail deposits (4–5%)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804672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04672"/>
            <a:ext cx="402336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Ltd (Target)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2801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housing finance NBFC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755648"/>
            <a:ext cx="402336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755648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(FY23)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1755648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22,594 Cr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23113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(FY23)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2231136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13,741 Cr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706624"/>
            <a:ext cx="402336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706624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(FY23)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80.5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1821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~171 Cr shares outstanding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657600"/>
            <a:ext cx="402336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borrowings — NCDs, bonds (7–8%)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15968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RATIONALE — WHY THIS MERGER MADE SENSE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of Funds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Ltd borrowed at 7–8% (bonds). Post-merger, same loans funded by deposits at 4–5%. On a INR 7L Cr+ book, ~150 bps savings = INR 10,500 Cr/year in cost reduction.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11480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Across 68M+ Customers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81728" y="1261872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had 68M customers but earned only a distributor fee on HDFC Ltd mortgages. Post-merger, 100% of mortgage economics stay in-house, plus bank products sell to mortgage customers.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4114800" cy="402336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Simplification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246120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scale-based regulation was raising compliance costs for large NBFCs like HDFC Ltd. Merging into a bank eliminated this overhang and gave a cleaner regulatory structure.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788920"/>
            <a:ext cx="4114800" cy="402336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889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Balance Sheet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81728" y="3246120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entity has INR 33L Cr+ in assets, making it one of India's largest financial institutions and giving it greater capacity to lend in infrastructure and corporate banking.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ANALYSIS — QUANTIFIED ESTIMATES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Synergies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612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116128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61288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cross-sell to Bank's 68M customer 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161288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~0.5% conversion on eligible customers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86600" y="1161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2,000–3,500 Cr/yr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63624"/>
            <a:ext cx="438912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563624"/>
            <a:ext cx="22860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563624"/>
            <a:ext cx="18288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563624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products to HDFC Ltd mortgage 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563624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of savings a/c, cards, investments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15636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1,000–1,500 Cr/yr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965960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96596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96596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965960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of distributor fee paid to HDFC Bank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965960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~0.5% on INR 2L Cr annual new disbursals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86600" y="1965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1,000 Cr/yr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368296"/>
            <a:ext cx="43891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368296"/>
            <a:ext cx="22860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368296"/>
            <a:ext cx="18288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368296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Synergies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68296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86600" y="23682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4,000–6,000 Cr/yr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862072"/>
            <a:ext cx="8595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620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Synergies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24612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324612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246120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of funds — deposits vs. market borrowings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246120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bps savings on INR 7L Cr book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86600" y="3246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10,500 Cr/yr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648456"/>
            <a:ext cx="438912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648456"/>
            <a:ext cx="228600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0" y="3648456"/>
            <a:ext cx="182880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648456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back-office, IT &amp; infrastructure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648456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of duplicate systems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86600" y="36484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800–1,200 Cr/yr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050792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405079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405079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050792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compliance &amp; regulatory costs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entity, one regulatory framework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86600" y="4050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300–500 Cr/yr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453128"/>
            <a:ext cx="43891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453128"/>
            <a:ext cx="22860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40880" y="4453128"/>
            <a:ext cx="18288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453128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Synergies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54880" y="4453128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86600" y="4453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11,600–12,200 Cr/yr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ACCRETION / DILUTION ANALYSIS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Ratio: 42 HDFC Bank shares for every 25 HDFC Ltd shares held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115568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standalone PAT (FY2023)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1155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44,109 Cr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17904"/>
            <a:ext cx="59436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17904"/>
            <a:ext cx="260604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17904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Ltd standalone PAT (FY2023)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151790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13,741 Cr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920240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920240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PAT (pre-synergies)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57,850 Cr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22576"/>
            <a:ext cx="59436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322576"/>
            <a:ext cx="260604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22576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synergy benefit (post-tax, Year 1 partial)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32257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3,000–5,000 Cr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2724912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724912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Combined PAT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7249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60,850–62,850 Cr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127248"/>
            <a:ext cx="59436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127248"/>
            <a:ext cx="260604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127248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shares post-merger (new + existing)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31272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~741 Cr shares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529584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529584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529584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Pre-merger HDFC Bank EPS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352958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79.4 per share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931920"/>
            <a:ext cx="59436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931920"/>
            <a:ext cx="260604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931920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EPS — before synergies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9319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78.1  (−1.6% dilution)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334256"/>
            <a:ext cx="59436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4334256"/>
            <a:ext cx="26060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334256"/>
            <a:ext cx="5806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EPS — with Year 1 synergies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433425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82–85  (+3–7% accretion)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90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 is mildly dilutive pre-synergies but EPS-accretive within 12–18 months — value-creating for long-term HDFC Bank shareholders.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CONCLUSION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93192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3877056" cy="3401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risk — merging IT systems and credit cultures takes 18–24 months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SLR/CRR requirements on the HDFC Ltd book may compress NIMs near-term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asset quality deterioration in the mortgage book directly hits capital ratios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EPS dilution before synergies materialise could pressure the stock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393192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04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61872"/>
            <a:ext cx="389534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value: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~$40B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impact: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Accretive by Yr 2–3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11,600–12,200 Cr/yr
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HDFC merger is a textbook example of a strategically-motivated bank consolidation deal. The value creation is structural — lower funding costs and cross-sell revenue are inevitable outcomes of the combined entity, not execution-dependent. On balance, this merger creates long-term value despite near-term dilution.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HDFC Bank – HDFC Ltd Merger Analysis</dc:title>
  <dc:subject>PptxGenJS Presentation</dc:subject>
  <dc:creator>Yash Bagul</dc:creator>
  <cp:lastModifiedBy>Yash Bagul</cp:lastModifiedBy>
  <cp:revision>1</cp:revision>
  <dcterms:created xsi:type="dcterms:W3CDTF">2026-03-11T20:17:19Z</dcterms:created>
  <dcterms:modified xsi:type="dcterms:W3CDTF">2026-03-11T20:17:19Z</dcterms:modified>
</cp:coreProperties>
</file>