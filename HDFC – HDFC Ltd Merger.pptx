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A2CB5-3BFB-4C41-3055-B4E686AD37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5B8084-B5A2-36E0-B7B0-6A05FD5C9A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D5907F-F8C2-B4CA-0244-1E3066635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524AA-654A-4680-8CB0-4D0C8B37084F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9AB0EE-8AF5-B5E3-161E-2AF8CF5EC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D70C0F-E337-8FE8-A9EB-101B3F848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56461-FA0B-4D20-B4EB-494C1A884D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4919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F93E1-D736-C7CD-73E3-9DE7CD061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BF065-1C1A-4123-9A4D-AFB089A4A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1EC51-5875-C49C-1C89-189F06D89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524AA-654A-4680-8CB0-4D0C8B37084F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7B772-9131-CF26-816D-512E8BD39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BB6E7-BDA0-C26B-2DF9-4653E0A11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56461-FA0B-4D20-B4EB-494C1A884D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9612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1C63B-032B-5D94-0A9D-D4D78B307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1A5C49-61F5-142F-FF42-7AEA822AED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AC1E3-E319-DB18-D5A8-D8311A3B3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524AA-654A-4680-8CB0-4D0C8B37084F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4341D9-D907-A9A3-FFF2-D1534915C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B9F44-6EAC-7B1A-5871-9F506D0B5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56461-FA0B-4D20-B4EB-494C1A884D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4977D-AB2B-A5C2-3098-F761F0D0E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1E3CE-3A4C-C851-DDB8-DE1077F334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22E465-7655-7799-A64D-5B129866F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997D9A-D7A9-C156-751D-D729A701D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524AA-654A-4680-8CB0-4D0C8B37084F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83BA05-8362-7B47-54BF-448BF22D7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421B15-B851-2C7A-99DF-DBC9CE7FC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56461-FA0B-4D20-B4EB-494C1A884D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6439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B8A60-5605-7CFE-BEC2-AB02CC3D1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A93D3F-55FB-7AD9-586E-E955A1478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53F891-D4E4-7A65-0773-663C232558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D76F86-B465-1C8C-88B9-2D1F7C028D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D21006-FDB2-E93C-7B29-366C50A178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3C705D-A949-E8BB-BD4B-13738A821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524AA-654A-4680-8CB0-4D0C8B37084F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8DDFB6-0FE6-4DC6-6A7C-2E42065F5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20C220-2B34-27A6-3B7A-01A26ED3E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56461-FA0B-4D20-B4EB-494C1A884D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2273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467E4-946F-7F6D-522F-EBF857D33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D37F43-A452-B1AB-0258-3BBED97FB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524AA-654A-4680-8CB0-4D0C8B37084F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67D61B-2ABE-227F-67E2-1009FD3B4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912C21-C744-9D9E-97E6-C7F3369BB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56461-FA0B-4D20-B4EB-494C1A884D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6185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E9B77A-36BE-0661-7A67-863B8F53B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524AA-654A-4680-8CB0-4D0C8B37084F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06CDFD-26D3-4F90-AD22-4A4DB2A39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8A831F-B711-1AEF-364E-CF452E848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56461-FA0B-4D20-B4EB-494C1A884D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6801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5E84A-F712-400F-B08F-34C78ACBC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FA2E1-76DD-0159-ACD6-8D773619A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FCE0AB-D8C0-B0A9-A4EC-D4C7E709B0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F9F401-7FC0-CFE0-7A77-C5A4C33A7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524AA-654A-4680-8CB0-4D0C8B37084F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B0682F-9C53-5E21-D581-1854178D0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3858F-C4FC-FD11-E57D-302234D93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56461-FA0B-4D20-B4EB-494C1A884D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0007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B3043-C798-3289-9BBA-6587236F5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03FEDF-D633-0676-FAE9-0EFEF72D7A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C6BB64-7D99-90F0-71F1-59DAA6E1F9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471AEA-BB65-72DE-6F32-1612E3F81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524AA-654A-4680-8CB0-4D0C8B37084F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ECF15-D4E9-9D50-7FA0-5FF083B3D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1620C9-F56C-DF94-4AFF-215C3CB0F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56461-FA0B-4D20-B4EB-494C1A884D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7240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80470-EF98-6A4C-0F48-FA1BEC77A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D11BA0-A46C-C3CB-880D-78A6CF2F93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AAAB2A-53E9-966E-C606-9A26FCCC5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524AA-654A-4680-8CB0-4D0C8B37084F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443BE-3A61-86D0-BEB7-126E0F687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51ED1-C605-FBAA-7297-E7E0F2F4A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56461-FA0B-4D20-B4EB-494C1A884D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2679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B319E6-2AC0-3698-2143-5DAF30CC78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B41DBE-434E-60B4-CD72-B0C371850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8D69E-6EF1-00D9-FA26-14DD3656F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524AA-654A-4680-8CB0-4D0C8B37084F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EEFCFA-BB09-A3D8-65CD-0DB391834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D00B8A-CCBC-FE00-C022-309BBE7B1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56461-FA0B-4D20-B4EB-494C1A884D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5948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36DDD8-1EAE-FD25-89D3-96DC0C8FE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AEB8AA-5FC7-48DA-02F1-AB333BBAAA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D81CC0-9879-5398-C603-ED38B7EC62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3524AA-654A-4680-8CB0-4D0C8B37084F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A421E3-39FB-2B22-263E-1FC54BAD05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04B30-AD5C-4B54-3009-A2C2A9D822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F56461-FA0B-4D20-B4EB-494C1A884D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761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E477E-1334-5AF7-B3BC-8BF8CA8372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200" dirty="0">
                <a:latin typeface="Cambria" panose="02040503050406030204" pitchFamily="18" charset="0"/>
                <a:ea typeface="Cambria" panose="02040503050406030204" pitchFamily="18" charset="0"/>
              </a:rPr>
              <a:t>HDFC – HDFC Ltd Merger</a:t>
            </a:r>
            <a:endParaRPr lang="en-IN" sz="6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6139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2B191-73DE-3B48-D4AB-7EEA2DC82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Strategic Rationale – Why Merger happened: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C1CDB-818C-E837-0FE7-A171D4548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33015"/>
            <a:ext cx="10515600" cy="4351338"/>
          </a:xfrm>
        </p:spPr>
        <p:txBody>
          <a:bodyPr/>
          <a:lstStyle/>
          <a:p>
            <a:r>
              <a:rPr lang="en-US" dirty="0"/>
              <a:t>Larger customer base </a:t>
            </a:r>
          </a:p>
          <a:p>
            <a:r>
              <a:rPr lang="en-US" dirty="0"/>
              <a:t>Access to cheaper funding</a:t>
            </a:r>
          </a:p>
          <a:p>
            <a:r>
              <a:rPr lang="en-US" dirty="0"/>
              <a:t>Cross-selling opportunities</a:t>
            </a:r>
          </a:p>
          <a:p>
            <a:r>
              <a:rPr lang="en-US" dirty="0"/>
              <a:t>Stronger balance sheet</a:t>
            </a:r>
          </a:p>
          <a:p>
            <a:r>
              <a:rPr lang="en-US" dirty="0"/>
              <a:t>Regulatory alignment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3588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45EC4-B665-05C9-B9BA-F98CA0CE0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Synergies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E86B5-8319-1329-EBA8-506B23F29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Revenue Synergies</a:t>
            </a:r>
          </a:p>
          <a:p>
            <a:r>
              <a:rPr lang="en-US" dirty="0"/>
              <a:t>More customers -&gt; more loans</a:t>
            </a:r>
          </a:p>
          <a:p>
            <a:r>
              <a:rPr lang="en-US" dirty="0"/>
              <a:t>Cross-selling banking &amp; home loans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Cross Synergies</a:t>
            </a:r>
          </a:p>
          <a:p>
            <a:r>
              <a:rPr lang="en-US" dirty="0"/>
              <a:t>Share infrastructure</a:t>
            </a:r>
          </a:p>
          <a:p>
            <a:r>
              <a:rPr lang="en-US" dirty="0"/>
              <a:t>Lower operational cost</a:t>
            </a:r>
          </a:p>
          <a:p>
            <a:r>
              <a:rPr lang="en-US" dirty="0"/>
              <a:t>Efficiency improvement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0903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5E092-BDDB-ACEA-8DE2-DCBA69204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Financial Impact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F2CB1-E4CF-1750-4449-48F3F69F5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Combined earnings expected to grow</a:t>
            </a:r>
          </a:p>
          <a:p>
            <a:r>
              <a:rPr lang="en-US" dirty="0"/>
              <a:t>Improved loan growth potential</a:t>
            </a:r>
          </a:p>
          <a:p>
            <a:r>
              <a:rPr lang="en-US" dirty="0"/>
              <a:t>Lower cost of funds</a:t>
            </a:r>
          </a:p>
          <a:p>
            <a:r>
              <a:rPr lang="en-US" dirty="0"/>
              <a:t>Stronger financial position</a:t>
            </a:r>
          </a:p>
          <a:p>
            <a:r>
              <a:rPr lang="en-US" dirty="0"/>
              <a:t>If EPS increases -&gt; value creating merger.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5694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F2166-D8D4-3A25-45FF-F4EC2F193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Risks &amp; Conclusion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67954-AD59-EB7A-3E36-DA6E85233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Risks</a:t>
            </a:r>
          </a:p>
          <a:p>
            <a:r>
              <a:rPr lang="en-US" dirty="0"/>
              <a:t>Integration challenges</a:t>
            </a:r>
          </a:p>
          <a:p>
            <a:r>
              <a:rPr lang="en-US" dirty="0"/>
              <a:t>Regulatory compliance</a:t>
            </a:r>
          </a:p>
          <a:p>
            <a:r>
              <a:rPr lang="en-US" dirty="0"/>
              <a:t>Short-term costs</a:t>
            </a:r>
          </a:p>
          <a:p>
            <a:pPr marL="0" indent="0">
              <a:buNone/>
            </a:pPr>
            <a:r>
              <a:rPr lang="en-US" dirty="0"/>
              <a:t>Conclusion</a:t>
            </a:r>
          </a:p>
          <a:p>
            <a:r>
              <a:rPr lang="en-US" dirty="0"/>
              <a:t>Creates financial giant in India</a:t>
            </a:r>
          </a:p>
          <a:p>
            <a:r>
              <a:rPr lang="en-US" dirty="0"/>
              <a:t>Strong long-term growth potential</a:t>
            </a:r>
          </a:p>
          <a:p>
            <a:r>
              <a:rPr lang="en-US" dirty="0"/>
              <a:t>Positive strategic merger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7896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</Words>
  <Application>Microsoft Office PowerPoint</Application>
  <PresentationFormat>Widescreen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</vt:lpstr>
      <vt:lpstr>Office Theme</vt:lpstr>
      <vt:lpstr>HDFC – HDFC Ltd Merger</vt:lpstr>
      <vt:lpstr>Strategic Rationale – Why Merger happened:</vt:lpstr>
      <vt:lpstr>Synergies</vt:lpstr>
      <vt:lpstr>Financial Impact</vt:lpstr>
      <vt:lpstr>Risks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Yash Bagul</dc:creator>
  <cp:lastModifiedBy>Yash Bagul</cp:lastModifiedBy>
  <cp:revision>1</cp:revision>
  <dcterms:created xsi:type="dcterms:W3CDTF">2026-02-17T18:48:20Z</dcterms:created>
  <dcterms:modified xsi:type="dcterms:W3CDTF">2026-02-17T18:48:25Z</dcterms:modified>
</cp:coreProperties>
</file>